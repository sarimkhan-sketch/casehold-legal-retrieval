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project: retrieving the legal holding a court cites, using classical and neural IR models on the CaseHOLD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motivation and the vocabulary mismatch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Hugging Face: coastalcph/lex_glue, config case_hold.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example: the passage, the &lt;HOLDING&gt; marker, and the five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Sparse path: preprocessing, inverted index, TF-IDF and BM25. Dense path: raw text to MiniLM vectors and cosine similarity. RRF merges the ranked 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Best run overall: BM25 + fine-tuned dense, MAP 0.401, Recall@100 0.821. Wilcoxon p for three-way hybrid vs BM25: 3.2e-16.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the browser. Show query 0, then type a custom passage. Toggle the fine-tuned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09728" cy="21031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73736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Legal Holding Retrieval on CaseHOLD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88920"/>
            <a:ext cx="100584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BFD3F0"/>
                </a:solidFill>
                <a:latin typeface="Calibri"/>
              </a:rPr>
              <a:t>Comparing TF-IDF, BM25, a Sentence Transformer and Hybrid Reciprocal Rank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389120"/>
            <a:ext cx="100584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Sarim Khan  (23F10CSE00486)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BFD3F0"/>
                </a:solidFill>
                <a:latin typeface="Calibri"/>
              </a:rPr>
              <a:t>CSE4144 Information Retrieval  ·  B.Tech CSE, Semester VII, 2026-27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BFD3F0"/>
                </a:solidFill>
                <a:latin typeface="Calibri"/>
              </a:rPr>
              <a:t>Guide: Ms Shweta Sharma  ·  Manipal University Jaipur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problem: finding the precedent that supports a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A78D6"/>
                </a:solidFill>
                <a:latin typeface="Calibri"/>
              </a:rPr>
              <a:t>A lawyer knows the argument. They need the cited case whose holding backs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Legal Holding Retrieval on CaseHOLD  ·  Sarim Khan  ·  CSE4144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603504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0B0B0B"/>
                </a:solidFill>
                <a:latin typeface="Calibri"/>
              </a:rPr>
              <a:t>▸ Legal arguments rest on precedent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52514E"/>
                </a:solidFill>
                <a:latin typeface="Calibri"/>
              </a:rPr>
              <a:t>   Courts write “other courts have held…” and cite a case, followed by a parenthetical stating its holding.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0B0B0B"/>
                </a:solidFill>
                <a:latin typeface="Calibri"/>
              </a:rPr>
              <a:t>▸ Manual search does not scale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52514E"/>
                </a:solidFill>
                <a:latin typeface="Calibri"/>
              </a:rPr>
              <a:t>   Thousands of decisions; a natural information retrieval task.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0B0B0B"/>
                </a:solidFill>
                <a:latin typeface="Calibri"/>
              </a:rPr>
              <a:t>▸ Lexical vs semantic matching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52514E"/>
                </a:solidFill>
                <a:latin typeface="Calibri"/>
              </a:rPr>
              <a:t>   TF-IDF/BM25 match exact words. Dense models match meaning but may not know legal language.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0B0B0B"/>
                </a:solidFill>
                <a:latin typeface="Calibri"/>
              </a:rPr>
              <a:t>▸ Goal of this project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52514E"/>
                </a:solidFill>
                <a:latin typeface="Calibri"/>
              </a:rPr>
              <a:t>   Recast CaseHOLD as retrieval and compare 4 required rankers + 2 extensions with standard IR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4846320" cy="402336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965960"/>
            <a:ext cx="438912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A78D6"/>
                </a:solidFill>
                <a:latin typeface="Calibri"/>
              </a:rPr>
              <a:t>Vocabulary mismatch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Citing passage talks about: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0B0B0B"/>
                </a:solidFill>
                <a:latin typeface="Calibri"/>
              </a:rPr>
              <a:t>“fears of a gas pipeline”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Correct holding talks about: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0B0B0B"/>
                </a:solidFill>
                <a:latin typeface="Calibri"/>
              </a:rPr>
              <a:t>“stigma damages … severance damages”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Few shared words, same legal point. This is why we compare lexical, dense and hybrid rankers.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Dataset: CaseHOLD (LexGLUE version)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A78D6"/>
                </a:solidFill>
                <a:latin typeface="Calibri"/>
              </a:rPr>
              <a:t>53,000+ citing passages from US court decisions, each with 1 correct and 4 wrong holdings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Legal Holding Retrieval on CaseHOLD  ·  Sarim Khan  ·  CSE4144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5760718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146"/>
                <a:gridCol w="900112"/>
                <a:gridCol w="1260157"/>
                <a:gridCol w="1170146"/>
                <a:gridCol w="1260157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Queries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Unique holdings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Words / query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Words / holding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45,000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50,291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136.3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26.4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3,900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14,138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136.3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25.4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73152" marR="73152" anchor="ctr">
                    <a:solidFill>
                      <a:srgbClr val="DDE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3,600</a:t>
                      </a:r>
                    </a:p>
                  </a:txBody>
                  <a:tcPr marL="73152" marR="73152" anchor="ctr">
                    <a:solidFill>
                      <a:srgbClr val="DDE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13,297</a:t>
                      </a:r>
                    </a:p>
                  </a:txBody>
                  <a:tcPr marL="73152" marR="73152" anchor="ctr">
                    <a:solidFill>
                      <a:srgbClr val="DDE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136.4</a:t>
                      </a:r>
                    </a:p>
                  </a:txBody>
                  <a:tcPr marL="73152" marR="73152" anchor="ctr">
                    <a:solidFill>
                      <a:srgbClr val="DDE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25.4</a:t>
                      </a:r>
                    </a:p>
                  </a:txBody>
                  <a:tcPr marL="73152" marR="73152" anchor="ctr">
                    <a:solidFill>
                      <a:srgbClr val="DDEA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429000"/>
            <a:ext cx="5760720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0B0B0B"/>
                </a:solidFill>
                <a:latin typeface="Calibri"/>
              </a:rPr>
              <a:t>▸ Built from the Harvard Law case law corpus (Zheng et al., ICAIL 2021)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0B0B0B"/>
                </a:solidFill>
                <a:latin typeface="Calibri"/>
              </a:rPr>
              <a:t>▸ Wrong options = most TF-IDF-similar holdings → deliberately hard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0B0B0B"/>
                </a:solidFill>
                <a:latin typeface="Calibri"/>
              </a:rPr>
              <a:t>▸ Correct answer spread evenly over 5 positions (713–727 per position)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0B0B0B"/>
                </a:solidFill>
                <a:latin typeface="Calibri"/>
              </a:rPr>
              <a:t>▸ Long queries (~136 words), short holdings (~25 words)</a:t>
            </a:r>
          </a:p>
        </p:txBody>
      </p:sp>
      <p:pic>
        <p:nvPicPr>
          <p:cNvPr id="9" name="Picture 8" descr="fig1_l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5486400" cy="19288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402336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Length distributions in the test split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An example: test query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A78D6"/>
                </a:solidFill>
                <a:latin typeface="Calibri"/>
              </a:rPr>
              <a:t>Choices 1-3 are on the same topic; that is what makes it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Legal Holding Retrieval on CaseHOLD  ·  Sarim Khan  ·  CSE4144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Citing context (query)</a:t>
            </a:r>
          </a:p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0B0B0B"/>
                </a:solidFill>
                <a:latin typeface="Calibri"/>
              </a:rPr>
              <a:t>… Other courts, in the same or similar circumstances, have held that the anticipation of increased interference or potential hazards on the land remaining after a taking, which one court has labeled “stigma damages,” can be considered in assessing severance damages. See, e.g., Vector Pipeline, L.P., v. 68.55 Acres of Land, 157 F.Supp.2d 949, 957 (N.D.Ill.2001) (&lt;HOLDING&gt;); United States v. 14.38 Acres of Land, 80 F.3d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29000"/>
            <a:ext cx="11247120" cy="502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429000"/>
            <a:ext cx="109728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B0B0B"/>
                </a:solidFill>
                <a:latin typeface="Calibri"/>
              </a:rPr>
              <a:t>0:  holding that actual damages under respa included emotional damages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95928"/>
            <a:ext cx="11247120" cy="502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995928"/>
            <a:ext cx="109728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B0B0B"/>
                </a:solidFill>
                <a:latin typeface="Calibri"/>
              </a:rPr>
              <a:t>1:  holding that increased fear of flooding was a matter that factfinder could properly consider in assessing severance damages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62856"/>
            <a:ext cx="11247120" cy="502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562856"/>
            <a:ext cx="109728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B0B0B"/>
                </a:solidFill>
                <a:latin typeface="Calibri"/>
              </a:rPr>
              <a:t>2:  holding that local buyers fear of possible knapweed infestation legitimately affected calculation of severance damages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129784"/>
            <a:ext cx="11247120" cy="502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129784"/>
            <a:ext cx="109728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B0B0B"/>
                </a:solidFill>
                <a:latin typeface="Calibri"/>
              </a:rPr>
              <a:t>3:  recognizing concept of stigma damages as they apply to property which is in fact contaminated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696712"/>
            <a:ext cx="11247120" cy="502920"/>
          </a:xfrm>
          <a:prstGeom prst="rect">
            <a:avLst/>
          </a:prstGeom>
          <a:solidFill>
            <a:srgbClr val="DF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696712"/>
            <a:ext cx="109728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F7B4F"/>
                </a:solidFill>
                <a:latin typeface="Calibri"/>
              </a:rPr>
              <a:t>4  ✓ correct:  holding that stigma damages were properly included in calculation of severance damages where proximity of gas pipeline could trigger fears about possible mishaps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Turning CaseHOLD into a retrieval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Legal Holding Retrieval on CaseHOLD  ·  Sarim Khan  ·  CSE4144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2296" cy="21945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51663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Calibri"/>
              </a:rPr>
              <a:t>Full-pool setting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5166360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Query = citing passage (3,600 queries). Documents = every unique holding in the test split (13,297). Exactly one relevant document per query. The realistic search setting.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82296" cy="2194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51663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EB6834"/>
                </a:solidFill>
                <a:latin typeface="Calibri"/>
              </a:rPr>
              <a:t>5-choice setting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5166360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Each query is ranked only against its own five options, matching the original multiple-choice CaseHOLD task. Accuracy = correct holding ranked first (random = 0.20).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A78D6"/>
                </a:solidFill>
                <a:latin typeface="Calibri"/>
              </a:rPr>
              <a:t>Evaluation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43400"/>
            <a:ext cx="1124712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B0B0B"/>
                </a:solidFill>
                <a:latin typeface="Calibri"/>
              </a:rPr>
              <a:t>▸ Precision@10, Recall@10/100, MAP and nDCG@10, plus Precision-Recall graphs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B0B0B"/>
                </a:solidFill>
                <a:latin typeface="Calibri"/>
              </a:rPr>
              <a:t>▸ With one relevant document at rank r: AP = 1/r, so MAP = MRR, and Precision@10 is capped at 0.1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B0B0B"/>
                </a:solidFill>
                <a:latin typeface="Calibri"/>
              </a:rPr>
              <a:t>▸ Wilcoxon signed-rank test on per-query AP to check whether gains over BM25 are significant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System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A78D6"/>
                </a:solidFill>
                <a:latin typeface="Calibri"/>
              </a:rPr>
              <a:t>A sparse path and a dense path, merged by Reciprocal Rank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Legal Holding Retrieval on CaseHOLD  ·  Sarim Khan  ·  CSE4144</a:t>
            </a:r>
          </a:p>
        </p:txBody>
      </p:sp>
      <p:pic>
        <p:nvPicPr>
          <p:cNvPr id="7" name="Picture 6" descr="fig2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11064240" cy="41593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Preprocessing and the inverted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Legal Holding Retrieval on CaseHOLD  ·  Sarim Khan  ·  CSE4144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640080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B0B0B"/>
                </a:solidFill>
                <a:latin typeface="Calibri"/>
              </a:rPr>
              <a:t>▸ Normalise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   Lower-case, remove the &lt;HOLDING&gt; marker, join dotted abbreviations (e.g. → eg)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B0B0B"/>
                </a:solidFill>
                <a:latin typeface="Calibri"/>
              </a:rPr>
              <a:t>▸ Tokenise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   Split on non-alphanumerics; drop 1-letter tokens and any token with a digit (removes reporter citations like 157 F.Supp.2d 949)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B0B0B"/>
                </a:solidFill>
                <a:latin typeface="Calibri"/>
              </a:rPr>
              <a:t>▸ Stop words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   scikit-learn English list + legal words: holding, held, v, see, eg, id, cf, supra, citing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B0B0B"/>
                </a:solidFill>
                <a:latin typeface="Calibri"/>
              </a:rPr>
              <a:t>▸ Stem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   Porter stemmer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B0B0B"/>
                </a:solidFill>
                <a:latin typeface="Calibri"/>
              </a:rPr>
              <a:t>▸ Dense path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   Uses raw text: stemming would destroy the sentences the model was trained 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371600"/>
            <a:ext cx="4480560" cy="17373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463040"/>
            <a:ext cx="420624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Correct holding of query 0 after preprocessing</a:t>
            </a:r>
          </a:p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0B0B0B"/>
                </a:solidFill>
                <a:latin typeface="Calibri"/>
              </a:rPr>
              <a:t>stigma, damag, properli, includ, calcul, sever, damag, proxim, ga, pipelin, trigger, fear, possibl, mishap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23760" y="3383280"/>
          <a:ext cx="4480559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5646"/>
                <a:gridCol w="1414913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Inverted index (test pool)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Distinct terms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7,233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Postings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150,284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Avg. indexed terms / holding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12.56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Avg. postings list length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20.78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Index build time (BM25)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0.15 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Ranking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Legal Holding Retrieval on CaseHOLD  ·  Sarim Khan  ·  CSE4144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09728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TF-IDF (vector space)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Weight (1 + log tf) × idf, unit-length vectors, cosine similarity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109728" cy="65836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8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Okapi BM25 (own implementation)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Term-frequency saturation (k1) and length normalisation (b) on our inverted index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80360"/>
            <a:ext cx="109728" cy="65836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52928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Sentence Transformer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all-MiniLM-L6-v2: 6 layers, 384-d vectors, cosine similarity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03320"/>
            <a:ext cx="109728" cy="65836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75888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Hybrid RRF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Fuses the top-1000 lists of TF-IDF, BM25 and dense using only rank positions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26280"/>
            <a:ext cx="109728" cy="65836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498848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Ext. 1: fine-tuned dense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MiniLM trained 1 epoch on 45,000 CaseHOLD training pairs (MNR loss, hard negative)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49240"/>
            <a:ext cx="109728" cy="658368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321808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Ext. 2: cross-encoder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ms-marco-MiniLM-L6-v2 re-scores the top 20 of the hybrid 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1280160"/>
            <a:ext cx="4800600" cy="484632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1371600"/>
            <a:ext cx="44805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A78D6"/>
                </a:solidFill>
                <a:latin typeface="Calibri"/>
              </a:rPr>
              <a:t>BM25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B0B0B"/>
                </a:solidFill>
                <a:latin typeface="Calibri"/>
              </a:rPr>
              <a:t>score(q,d) = Σ idf(t) · tf·(k1+1) / (tf + k1·(1 − b + b·|d|/avgdl))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B0B0B"/>
                </a:solidFill>
                <a:latin typeface="Calibri"/>
              </a:rPr>
              <a:t>idf(t) = ln(1 + (N − df + 0.5) / (df + 0.5))</a:t>
            </a:r>
          </a:p>
          <a:p>
            <a:pPr algn="l">
              <a:spcAft>
                <a:spcPts val="180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Chosen on validation: k1 = 0.4, b = 1.0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A78D6"/>
                </a:solidFill>
                <a:latin typeface="Calibri"/>
              </a:rPr>
              <a:t>Reciprocal Rank Fusion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B0B0B"/>
                </a:solidFill>
                <a:latin typeface="Calibri"/>
              </a:rPr>
              <a:t>RRF(d) = Σ over models m of 1 / (k + rank_m(d))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No score normalisation needed: BM25 scores are unbounded, cosine lies in [−1, 1].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k = 60 (standard) for main results; k = 5 chosen on validation as an extra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Choosing parameters on the validation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A78D6"/>
                </a:solidFill>
                <a:latin typeface="Calibri"/>
              </a:rPr>
              <a:t>All choices made on 3,900 validation queries (MRR), then frozen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Legal Holding Retrieval on CaseHOLD  ·  Sarim Khan  ·  CSE4144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4712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6748272"/>
                <a:gridCol w="2249424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Options tried (validation MRR)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Chosen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Query length (BM25)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full 0.300 · last 64 words 0.278 · last 32 0.154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Full context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BM25 k1, b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grid of 54 settings, best MRR 0.308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k1 = 0.4, b = 1.0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TF-IDF preprocessing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tokens 0.281 · + stop words 0.274 · + stemming 0.300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Stop words + stem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Dense model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MiniLM 0.228 · bge-small 0.158 · bge + instruction 0.176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all-MiniLM-L6-v2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RRF constant k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k=1: 0.330 · k=5: 0.331 · k=10: 0.331 · k=60: 0.318 · k=100: 0.316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k = 5 (extra run)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Low k1 and high b suit short documents, where repeating a term adds little meaning. Stop-word removal alone did not help TF-IDF; adding stemming did.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Full-pool results on the test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A78D6"/>
                </a:solidFill>
                <a:latin typeface="Calibri"/>
              </a:rPr>
              <a:t>3,600 queries × 13,297 holdings. Max possible Precision@10 is 0.1.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Legal Holding Retrieval on CaseHOLD  ·  Sarim Khan  ·  CSE4144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124711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0"/>
                <a:gridCol w="1353820"/>
                <a:gridCol w="1562100"/>
                <a:gridCol w="1666240"/>
                <a:gridCol w="1457959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Ranking model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P@10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Recall@100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MAP (= MRR)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TF-IDF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0.049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0.728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0.317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0.349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BM25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0.049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0.709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0.320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0.354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Sentence Transformer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0.037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0.604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0.234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0.258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Hybrid RRF (TF-IDF + BM25 + Dense)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0.053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0.762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0.327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0.367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Hybrid RRF, k = 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0.054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0.759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0.341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0.380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Hybrid RRF (BM25 + Dense)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0.049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0.747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0.314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0.347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Hybrid + cross-encoder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0.039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0.762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0.181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0.215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Dense, fine-tuned (ext.)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0.058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0.802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0.395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  <a:latin typeface="Calibri"/>
                        </a:rPr>
                        <a:t>0.432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0B0B"/>
                          </a:solidFill>
                          <a:latin typeface="Calibri"/>
                        </a:rPr>
                        <a:t>Hybrid RRF (BM25 + fine-tuned Dense)</a:t>
                      </a:r>
                    </a:p>
                  </a:txBody>
                  <a:tcPr marL="73152" marR="73152" anchor="ctr">
                    <a:solidFill>
                      <a:srgbClr val="DDE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B0B0B"/>
                          </a:solidFill>
                          <a:latin typeface="Calibri"/>
                        </a:rPr>
                        <a:t>0.060</a:t>
                      </a:r>
                    </a:p>
                  </a:txBody>
                  <a:tcPr marL="73152" marR="73152" anchor="ctr">
                    <a:solidFill>
                      <a:srgbClr val="DDE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B0B0B"/>
                          </a:solidFill>
                          <a:latin typeface="Calibri"/>
                        </a:rPr>
                        <a:t>0.821</a:t>
                      </a:r>
                    </a:p>
                  </a:txBody>
                  <a:tcPr marL="73152" marR="73152" anchor="ctr">
                    <a:solidFill>
                      <a:srgbClr val="DDE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B0B0B"/>
                          </a:solidFill>
                          <a:latin typeface="Calibri"/>
                        </a:rPr>
                        <a:t>0.401</a:t>
                      </a:r>
                    </a:p>
                  </a:txBody>
                  <a:tcPr marL="73152" marR="73152" anchor="ctr">
                    <a:solidFill>
                      <a:srgbClr val="DDE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B0B0B"/>
                          </a:solidFill>
                          <a:latin typeface="Calibri"/>
                        </a:rPr>
                        <a:t>0.440</a:t>
                      </a:r>
                    </a:p>
                  </a:txBody>
                  <a:tcPr marL="73152" marR="73152" anchor="ctr">
                    <a:solidFill>
                      <a:srgbClr val="DDEA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Rows 1-4 are the four required models; “ext.” rows are the extensions. Highlighted = best run.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What the results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Legal Holding Retrieval on CaseHOLD  ·  Sarim Khan  ·  CSE4144</a:t>
            </a:r>
          </a:p>
        </p:txBody>
      </p:sp>
      <p:pic>
        <p:nvPicPr>
          <p:cNvPr id="6" name="Picture 5" descr="fig3_full_poo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359203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498348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983480"/>
            <a:ext cx="82296" cy="13258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074920"/>
            <a:ext cx="24231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EB6834"/>
                </a:solidFill>
                <a:latin typeface="Calibri"/>
              </a:rPr>
              <a:t>0.320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2423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BM25 MAP: best required single model (dense 0.234)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498348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4983480"/>
            <a:ext cx="82296" cy="1325880"/>
          </a:xfrm>
          <a:prstGeom prst="rect">
            <a:avLst/>
          </a:prstGeom>
          <a:solidFill>
            <a:srgbClr val="C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5074920"/>
            <a:ext cx="24231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98500"/>
                </a:solidFill>
                <a:latin typeface="Calibri"/>
              </a:rPr>
              <a:t>0.709 → 0.762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5715000"/>
            <a:ext cx="2423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Recall@100, BM25 → three-way RRF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98348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983480"/>
            <a:ext cx="82296" cy="1325880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5074920"/>
            <a:ext cx="24231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6250D6"/>
                </a:solidFill>
                <a:latin typeface="Calibri"/>
              </a:rPr>
              <a:t>0.234 → 0.395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715000"/>
            <a:ext cx="2423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Dense MAP after fine-tuning on CaseHOLD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498348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4983480"/>
            <a:ext cx="82296" cy="132588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5074920"/>
            <a:ext cx="24231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E34948"/>
                </a:solidFill>
                <a:latin typeface="Calibri"/>
              </a:rPr>
              <a:t>0.181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5715000"/>
            <a:ext cx="2423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Cross-encoder MAP: web-trained re-ranker hurts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Precision-Recall and where the correct holding lands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Legal Holding Retrieval on CaseHOLD  ·  Sarim Khan  ·  CSE4144</a:t>
            </a:r>
          </a:p>
        </p:txBody>
      </p:sp>
      <p:pic>
        <p:nvPicPr>
          <p:cNvPr id="6" name="Picture 5" descr="fig4_precision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120640" cy="3480843"/>
          </a:xfrm>
          <a:prstGeom prst="rect">
            <a:avLst/>
          </a:prstGeom>
        </p:spPr>
      </p:pic>
      <p:pic>
        <p:nvPicPr>
          <p:cNvPr id="7" name="Picture 6" descr="fig5_rank_buck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463040"/>
            <a:ext cx="6492240" cy="23648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One relevant holding per query, so precision falls roughly as 1/k; plotted on a log scale.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The hybrid curve rises above BM25 as k grows: fusion mainly pulls answers from deep in the list into the top 100.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5-choice setting (original CaseHOLD format)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A78D6"/>
                </a:solidFill>
                <a:latin typeface="Calibri"/>
              </a:rPr>
              <a:t>Every method is far above chance (0.20), but the ordering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Legal Holding Retrieval on CaseHOLD  ·  Sarim Khan  ·  CSE4144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6949438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902"/>
                <a:gridCol w="958543"/>
                <a:gridCol w="798786"/>
                <a:gridCol w="958543"/>
                <a:gridCol w="878664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Ranking model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Recall@2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nDCG@5</a:t>
                      </a:r>
                    </a:p>
                  </a:txBody>
                  <a:tcPr marL="73152" marR="73152" anchor="ctr">
                    <a:solidFill>
                      <a:srgbClr val="142B4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TF-IDF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0.554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0.726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0.764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0.795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BM25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0.579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0.745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0.788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0.809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Sentence Transformer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0.523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0.705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0.738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0.779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Dense, fine-tuned (ext.)</a:t>
                      </a:r>
                    </a:p>
                  </a:txBody>
                  <a:tcPr marL="73152" marR="73152" anchor="ctr">
                    <a:solidFill>
                      <a:srgbClr val="DDE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0.637</a:t>
                      </a:r>
                    </a:p>
                  </a:txBody>
                  <a:tcPr marL="73152" marR="73152" anchor="ctr">
                    <a:solidFill>
                      <a:srgbClr val="DDE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0.785</a:t>
                      </a:r>
                    </a:p>
                  </a:txBody>
                  <a:tcPr marL="73152" marR="73152" anchor="ctr">
                    <a:solidFill>
                      <a:srgbClr val="DDE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0.842</a:t>
                      </a:r>
                    </a:p>
                  </a:txBody>
                  <a:tcPr marL="73152" marR="73152" anchor="ctr">
                    <a:solidFill>
                      <a:srgbClr val="DDE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0.839</a:t>
                      </a:r>
                    </a:p>
                  </a:txBody>
                  <a:tcPr marL="73152" marR="73152" anchor="ctr">
                    <a:solidFill>
                      <a:srgbClr val="DDEA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Hybrid RRF (TF-IDF + BM25 + Dense)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0.584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0.746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0.784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0.810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Hybrid RRF (BM25 + Dense)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0.563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0.736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0.787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0.803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Hybrid RRF (BM25 + fine-tuned Dense)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0.624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0.777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0.834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0.833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Cross-encoder (ms-marco)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0.386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0.605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0.611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0.703</a:t>
                      </a:r>
                    </a:p>
                  </a:txBody>
                  <a:tcPr marL="73152" marR="7315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1737360"/>
            <a:ext cx="411480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B0B0B"/>
                </a:solidFill>
                <a:latin typeface="Calibri"/>
              </a:rPr>
              <a:t>▸ Wrong options were chosen by TF-IDF similarity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   All five candidates share vocabulary, so the lexical signal RRF adds helps less.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B0B0B"/>
                </a:solidFill>
                <a:latin typeface="Calibri"/>
              </a:rPr>
              <a:t>▸ Domain training wins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   The fine-tuned dense model is the most accurate single ranker here.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B0B0B"/>
                </a:solidFill>
                <a:latin typeface="Calibri"/>
              </a:rPr>
              <a:t>▸ Context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   Zheng et al. report ~0.6 macro-F1 for fine-tuned BERT on their split (not directly comparable).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Error analysis: the models fail on different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Legal Holding Retrieval on CaseHOLD  ·  Sarim Khan  ·  CSE4144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82296" cy="13716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38862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EB6834"/>
                </a:solidFill>
                <a:latin typeface="Calibri"/>
              </a:rPr>
              <a:t>461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8862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queries where BM25 ranks the answer first but the dense model does not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82296" cy="13716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38862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AF7A"/>
                </a:solidFill>
                <a:latin typeface="Calibri"/>
              </a:rPr>
              <a:t>209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66160"/>
            <a:ext cx="38862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queries where only the dense model ranks it 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82296" cy="1371600"/>
          </a:xfrm>
          <a:prstGeom prst="rect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80560"/>
            <a:ext cx="38862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52514E"/>
                </a:solidFill>
                <a:latin typeface="Calibri"/>
              </a:rPr>
              <a:t>1,589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120640"/>
            <a:ext cx="38862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queries (44%) where neither puts it in the top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280160"/>
            <a:ext cx="676656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▸ Complementary errors → fusion helps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   Both rank it first in 372 queries; the disagreements are what RRF exploits.</a:t>
            </a:r>
          </a:p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▸ Hybrid's wrong top-1 is rarely a distractor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   Only 13% of misses are one of the query's own 4 wrong options; word overlap with the correct holding is low (Jaccard 0.09).</a:t>
            </a:r>
          </a:p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▸ Longer holdings are easier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   BM25 MRR rises from 0.199 (≤15 words) to 0.411 (&gt;40 words): more terms to match.</a:t>
            </a:r>
          </a:p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▸ Some citations cannot be recovered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   A citation used for a procedural point the surrounding text never mentions defeats every ranker that only reads the context.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4343400"/>
            <a:ext cx="6629400" cy="1783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4407408"/>
            <a:ext cx="6309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AF7A"/>
                </a:solidFill>
                <a:latin typeface="Calibri"/>
              </a:rPr>
              <a:t>Query 296: dense rank 1, BM25 rank 1,883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0B0B0B"/>
                </a:solidFill>
                <a:latin typeface="Calibri"/>
              </a:rPr>
              <a:t>Context: two officers say they were ordered to “cease all contact” with each other …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B0B0B"/>
                </a:solidFill>
                <a:latin typeface="Calibri"/>
              </a:rPr>
              <a:t>Correct: holding that governmental actions restricting police officers sexual conduct of an extramarital affair were reasonable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No shared keywords, so BM25 misses it; the dense model links the meaning.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Live demo: Streamlit search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A78D6"/>
                </a:solidFill>
                <a:latin typeface="Calibri"/>
              </a:rPr>
              <a:t>Pick a CaseHOLD test query or type any passage; compare all four rankers side by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Legal Holding Retrieval on CaseHOLD  ·  Sarim Khan  ·  CSE4144</a:t>
            </a:r>
          </a:p>
        </p:txBody>
      </p:sp>
      <p:pic>
        <p:nvPicPr>
          <p:cNvPr id="7" name="Picture 6" descr="fig6_search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6758609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737360"/>
            <a:ext cx="420624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B0B0B"/>
                </a:solidFill>
                <a:latin typeface="Calibri"/>
              </a:rPr>
              <a:t>▸ Shows preprocessed query terms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B0B0B"/>
                </a:solidFill>
                <a:latin typeface="Calibri"/>
              </a:rPr>
              <a:t>▸ Top 10 from TF-IDF, BM25, dense (base or fine-tuned) and RRF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B0B0B"/>
                </a:solidFill>
                <a:latin typeface="Calibri"/>
              </a:rPr>
              <a:t>▸ Marks the correct holding and its rank in each list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B0B0B"/>
                </a:solidFill>
                <a:latin typeface="Calibri"/>
              </a:rPr>
              <a:t>▸ BM25 answers by walking the postings lists: well under a second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5120640"/>
            <a:ext cx="4206240" cy="822960"/>
          </a:xfrm>
          <a:prstGeom prst="round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5120640"/>
            <a:ext cx="4206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Menlo"/>
              </a:rPr>
              <a:t>streamlit run app/search_app.py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Conclusion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Legal Holding Retrieval on CaseHOLD  ·  Sarim Khan  ·  CSE4144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669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A78D6"/>
                </a:solidFill>
                <a:latin typeface="Calibri"/>
              </a:rPr>
              <a:t>Key lessons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566928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▸ Lexical models are strong on legal text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   Tuned BM25 (MAP 0.320) beats an off-the-shelf dense model (0.234).</a:t>
            </a:r>
          </a:p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▸ Fusion helps recall more than the top rank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   Three-way RRF lifts Recall@100 to 0.762; MAP moves to 0.327.</a:t>
            </a:r>
          </a:p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▸ Domain data matters most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   Fine-tuning lifts dense MAP to 0.395; BM25 + fine-tuned dense is best (0.401).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23444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A78D6"/>
                </a:solidFill>
                <a:latin typeface="Calibri"/>
              </a:rPr>
              <a:t>Limits and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53035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B0B0B"/>
                </a:solidFill>
                <a:latin typeface="Calibri"/>
              </a:rPr>
              <a:t>▸ One relevant holding per query: legally valid alternatives count as wrong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B0B0B"/>
                </a:solidFill>
                <a:latin typeface="Calibri"/>
              </a:rPr>
              <a:t>▸ Pool is the test split, not a full case-law database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B0B0B"/>
                </a:solidFill>
                <a:latin typeface="Calibri"/>
              </a:rPr>
              <a:t>▸ Try a legal-domain encoder (Legal-BERT)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B0B0B"/>
                </a:solidFill>
                <a:latin typeface="Calibri"/>
              </a:rPr>
              <a:t>▸ Train the cross-encoder on CaseHOLD itself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B0B0B"/>
                </a:solidFill>
                <a:latin typeface="Calibri"/>
              </a:rPr>
              <a:t>▸ Weight the rankers inside RRF instead of treating them equally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  · 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698480" cy="2286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BFD3F0"/>
                </a:solidFill>
                <a:latin typeface="Calibri"/>
              </a:rPr>
              <a:t>Code, results and demo: github.com/sarimkhan-sketch/casehold-legal-retrieval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BFD3F0"/>
                </a:solidFill>
                <a:latin typeface="Calibri"/>
              </a:rPr>
              <a:t>Key references: Robertson &amp; Zaragoza 2009 (BM25) · Reimers &amp; Gurevych 2019 (Sentence-BERT) · Cormack et al. 2009 (RRF) · Zheng et al. 2021 (CaseHOLD) · Chalkidis et al. 2022 (LexGLUE)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